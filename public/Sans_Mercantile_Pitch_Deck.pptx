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63380"/>
            <a:ext cx="1647825" cy="3238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09825" y="4663380"/>
            <a:ext cx="1552575" cy="3238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882926"/>
            <a:ext cx="238125" cy="2423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36606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Autonomous Multi-Agent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95700"/>
            <a:ext cx="6953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Powering high-value enterprise orchestration across Real Estate, EdTech, Sovereign Finance, and Generative Media.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904107"/>
            <a:ext cx="12024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accent6">
                    <a:lumMod val="75000"/>
                  </a:schemeClr>
                </a:solidFill>
                <a:latin typeface="Plus Jakarta Sans"/>
              </a:rPr>
              <a:t>SANS</a:t>
            </a:r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 MERCANTILE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739580"/>
            <a:ext cx="1400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2E8F0"/>
                </a:solidFill>
                <a:latin typeface="Plus Jakarta Sans"/>
              </a:rPr>
              <a:t>Anchor: Ptah-Realty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1275" y="4739580"/>
            <a:ext cx="1304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2E8F0"/>
                </a:solidFill>
                <a:latin typeface="Plus Jakarta Sans"/>
              </a:rPr>
              <a:t>Seed Round 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9400"/>
            <a:ext cx="3505200" cy="1895475"/>
          </a:xfrm>
          <a:prstGeom prst="roundRect">
            <a:avLst>
              <a:gd name="adj" fmla="val 80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19400"/>
            <a:ext cx="3505200" cy="1895475"/>
          </a:xfrm>
          <a:prstGeom prst="roundRect">
            <a:avLst>
              <a:gd name="adj" fmla="val 80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505200" cy="1895475"/>
          </a:xfrm>
          <a:prstGeom prst="roundRect">
            <a:avLst>
              <a:gd name="adj" fmla="val 80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3372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337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3372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INDUSTRY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Enterprise Bottlenecks Across Legacy Sectors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9092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 Estate Liquidity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4335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Manual underwriting delays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9092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Sovereign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4335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High regulatory latency in cross-border clearing.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9092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Static Education &amp;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4335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Rigid learning models lacking real-time adaptation.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95975" y="2747962"/>
            <a:ext cx="5686425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11798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2613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640460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THE PLATFORM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Autonomous Multi-Agent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17452"/>
            <a:ext cx="5076825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1" i="0" u="none">
                <a:solidFill>
                  <a:srgbClr val="0F172A"/>
                </a:solidFill>
                <a:latin typeface="Plus Jakarta Sans"/>
              </a:rPr>
              <a:t>An interconnected network of 23 domain-specialized systems powered by a unified compute &amp; intelligence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100387"/>
            <a:ext cx="5943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Estate Core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4262437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Production-ready monorepo with cross-system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787973"/>
            <a:ext cx="4829175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Zero-Latency Coordination: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Inter-agent orchestration across sectors.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302323"/>
            <a:ext cx="5979318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Shared Core Runtime: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Central gateway, auth, and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16648"/>
            <a:ext cx="5979318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Accelerated Inference: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GPU-powered decision engines.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471862"/>
            <a:ext cx="127635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lus Jakarta Sans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900487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Sibling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0" y="3471862"/>
            <a:ext cx="1285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lus Jakarta Sans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3900487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Domain Sectors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782300" y="533400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755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57550"/>
            <a:ext cx="2000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5755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Ptah-Realty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1975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PRIMARY ANCHOR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0" y="571500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PropTech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766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market yield and property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6766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Deal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FastAPI &amp; MongoDB intelligence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67665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Cross-Border 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AWS Bedrock integration for multi-region deals.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3133725"/>
            <a:ext cx="5610225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344150" y="533400"/>
            <a:ext cx="123825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71937"/>
            <a:ext cx="5057775" cy="47625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071937"/>
            <a:ext cx="38100" cy="4762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438525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733800"/>
            <a:ext cx="1809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029075"/>
            <a:ext cx="1238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KEV Immersive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1975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PRIORITY ECOSYSTEM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8450" y="571500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Plus Jakarta Sans"/>
              </a:rPr>
              <a:t>EdTech / WebXR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043237"/>
            <a:ext cx="663832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WebXR Campus &amp; 158 Role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424237"/>
            <a:ext cx="5153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Interactive 3D learning across 185+ subjects through 13 explorable worlds, powered by AWS Bedrock and Auth0.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224337"/>
            <a:ext cx="5893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Global Reach: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198-country home language routing with 6 UI locales.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409950"/>
            <a:ext cx="594360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3D Environments: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Anatomy, orbital mechanics, historic worlds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705225"/>
            <a:ext cx="5943600" cy="18097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Console Split: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Real-time teacher &amp; student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000500"/>
            <a:ext cx="5943600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Testing Suite: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207-test pytest coverage for continuous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48875" y="533400"/>
            <a:ext cx="1533525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755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5755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57550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PRIV Autonomous Financial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1975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PRIORITY ECOSYSTEM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3175" y="571500"/>
            <a:ext cx="1400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Plus Jakarta Sans"/>
              </a:rPr>
              <a:t>Fintech / Sovereign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766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Autonomous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Multi-agent trading and governance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6766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PyTorch / CUDA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Neuromorphic &amp; quantum-inspired optimizers.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67665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Sans Pay (SMPP)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71925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Low-latency cross-border payment settlement.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3219450"/>
            <a:ext cx="5610225" cy="1152525"/>
          </a:xfrm>
          <a:prstGeom prst="roundRect">
            <a:avLst>
              <a:gd name="adj" fmla="val 132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315575" y="533400"/>
            <a:ext cx="1266825" cy="22860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3810000"/>
            <a:ext cx="72390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8500" y="3810000"/>
            <a:ext cx="100965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34350" y="3810000"/>
            <a:ext cx="68580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96350" y="3810000"/>
            <a:ext cx="140970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8382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CrazyJam AI Music 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61975"/>
            <a:ext cx="2536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SPECIALIZED MEDIA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9875" y="571500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D174D"/>
                </a:solidFill>
                <a:latin typeface="Plus Jakarta Sans"/>
              </a:rPr>
              <a:t>GPU Accelerated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38500"/>
            <a:ext cx="51530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Hard GPU Acceleration for Generative Audio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24300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Combines AWS Bedrock composition planning with MusicGen-large on AWS SageMaker async endpoints (NVIDIA A10G GPUs).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495675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NVIDIA Stack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867150"/>
            <a:ext cx="590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PyTorch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800" y="3867150"/>
            <a:ext cx="876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CUDA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3867150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cuDNN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0650" y="3867150"/>
            <a:ext cx="127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TensorRT (Planned)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52750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52750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28975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28975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2897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Shared Compute &amp; Acceleration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480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Shared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433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Unified gateway, central auth, monitoring, and Redis caching.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480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AWS Bedrock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433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Claude-family orchestration for multi-agent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48075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NVIDIA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433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A10G GPU inference + PyTorch CUDA offload 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96025" y="3290887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Cross-Industry TAM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4159" y="3257550"/>
            <a:ext cx="4393406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Plus Jakarta Sans"/>
              </a:rPr>
              <a:t>$4.2T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159" y="4057650"/>
            <a:ext cx="4393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Global PropTech &amp; Commercial Real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5206" y="3257550"/>
            <a:ext cx="3881437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D97706"/>
                </a:solidFill>
                <a:latin typeface="Plus Jakarta Sans"/>
              </a:rPr>
              <a:t>$300B+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5206" y="4057650"/>
            <a:ext cx="3881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Fintech &amp; EdTech Markets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3250"/>
            <a:ext cx="3505200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43250"/>
            <a:ext cx="3505200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43250"/>
            <a:ext cx="3505200" cy="1247775"/>
          </a:xfrm>
          <a:prstGeom prst="roundRect">
            <a:avLst>
              <a:gd name="adj" fmla="val 122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Multi-Tier Revenue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194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Node Licensing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28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Enterprise SaaS subscriptions for specialized sector agents (Ptah, KEV).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194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Transaction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528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Settlement volume margin via Sans Pay (SMPP) and deal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19475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API Compute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5285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Metered GPU generative inference for CrazyJam &amp; custom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72175" y="2957512"/>
            <a:ext cx="5610225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CAPITAL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Seed Round: $1M - $5M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57562"/>
            <a:ext cx="663832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18-Month Deployment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48087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Scaling primary enterprise pipelines, expanding compute infrastructure, and driving customer acquisition across anchor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233737"/>
            <a:ext cx="5943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40% Ptah-Realty Expansion: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Broker &amp; developer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529012"/>
            <a:ext cx="5943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30% Compute &amp; GPU Cluster: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SageMaker / NVIDIA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824287"/>
            <a:ext cx="5943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20% Compliance &amp; Licensing: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Legal &amp; clearing 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4119562"/>
            <a:ext cx="5943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10% Operations: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Key technical hires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10050" y="4119562"/>
            <a:ext cx="3771900" cy="523875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75546" y="2214562"/>
            <a:ext cx="3440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INCEPTION CAPITAL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6285" y="2528887"/>
            <a:ext cx="305942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chemeClr val="accent6">
                    <a:lumMod val="75000"/>
                  </a:schemeClr>
                </a:solidFill>
                <a:latin typeface="Plus Jakarta Sans"/>
              </a:rPr>
              <a:t>Sans</a:t>
            </a: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 Mercantile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300412"/>
            <a:ext cx="714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Building the next generation of autonomous enterprise agent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1468" y="4281487"/>
            <a:ext cx="3929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2E8F0"/>
                </a:solidFill>
                <a:latin typeface="Plus Jakarta Sans"/>
              </a:rPr>
              <a:t>Contact: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 mezzoforte@sansmercantile.com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509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Mezzoforte Khoza</cp:lastModifiedBy>
  <cp:revision>2</cp:revision>
  <dcterms:created xsi:type="dcterms:W3CDTF">2013-01-27T09:14:16Z</dcterms:created>
  <dcterms:modified xsi:type="dcterms:W3CDTF">2026-09-29T18:18:58Z</dcterms:modified>
  <cp:category/>
</cp:coreProperties>
</file>